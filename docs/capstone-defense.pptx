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16c4741d104b65" /><Relationship Type="http://schemas.openxmlformats.org/officeDocument/2006/relationships/extended-properties" Target="/docProps/app.xml" Id="R37c47ea817c24365" /><Relationship Type="http://schemas.openxmlformats.org/officeDocument/2006/relationships/officeDocument" Target="/ppt/presentation.xml" Id="R0eec285cec3b46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af8082c7b040b5"/>
  </p:sldMasterIdLst>
  <p:notesMasterIdLst>
    <p:notesMasterId xmlns:r="http://schemas.openxmlformats.org/officeDocument/2006/relationships" r:id="Rb172189d320e4cde"/>
  </p:notesMasterIdLst>
  <p:sldIdLst>
    <p:sldId xmlns:r="http://schemas.openxmlformats.org/officeDocument/2006/relationships" id="256" r:id="R0e3dcccfd9f745ae"/>
    <p:sldId xmlns:r="http://schemas.openxmlformats.org/officeDocument/2006/relationships" id="257" r:id="R3fd2e2fa0f074d3c"/>
    <p:sldId xmlns:r="http://schemas.openxmlformats.org/officeDocument/2006/relationships" id="258" r:id="Rc2dc76b68fc948ca"/>
    <p:sldId xmlns:r="http://schemas.openxmlformats.org/officeDocument/2006/relationships" id="259" r:id="Rd8a522e5b46440e9"/>
    <p:sldId xmlns:r="http://schemas.openxmlformats.org/officeDocument/2006/relationships" id="260" r:id="Rf242ce51f6884c34"/>
    <p:sldId xmlns:r="http://schemas.openxmlformats.org/officeDocument/2006/relationships" id="261" r:id="R322f216eed334a13"/>
    <p:sldId xmlns:r="http://schemas.openxmlformats.org/officeDocument/2006/relationships" id="262" r:id="R434d3deaf0b24769"/>
    <p:sldId xmlns:r="http://schemas.openxmlformats.org/officeDocument/2006/relationships" id="263" r:id="Rfbc2f04e091640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6f8ebc996c48e3" /><Relationship Type="http://schemas.openxmlformats.org/officeDocument/2006/relationships/slideMaster" Target="/ppt/slideMasters/slideMaster1.xml" Id="R5aaf8082c7b040b5" /><Relationship Type="http://schemas.openxmlformats.org/officeDocument/2006/relationships/notesMaster" Target="/ppt/notesMasters/notesMaster1.xml" Id="Rb172189d320e4cde" /><Relationship Type="http://schemas.openxmlformats.org/officeDocument/2006/relationships/presProps" Target="/ppt/presProps.xml" Id="Rda831fb5376b4735" /><Relationship Type="http://schemas.openxmlformats.org/officeDocument/2006/relationships/tableStyles" Target="/ppt/tableStyles.xml" Id="R8bca0a6bb8e84976" /><Relationship Type="http://schemas.openxmlformats.org/officeDocument/2006/relationships/slide" Target="/ppt/slides/slide1.xml" Id="R0e3dcccfd9f745ae" /><Relationship Type="http://schemas.openxmlformats.org/officeDocument/2006/relationships/slide" Target="/ppt/slides/slide2.xml" Id="R3fd2e2fa0f074d3c" /><Relationship Type="http://schemas.openxmlformats.org/officeDocument/2006/relationships/slide" Target="/ppt/slides/slide3.xml" Id="Rc2dc76b68fc948ca" /><Relationship Type="http://schemas.openxmlformats.org/officeDocument/2006/relationships/slide" Target="/ppt/slides/slide4.xml" Id="Rd8a522e5b46440e9" /><Relationship Type="http://schemas.openxmlformats.org/officeDocument/2006/relationships/slide" Target="/ppt/slides/slide5.xml" Id="Rf242ce51f6884c34" /><Relationship Type="http://schemas.openxmlformats.org/officeDocument/2006/relationships/slide" Target="/ppt/slides/slide6.xml" Id="R322f216eed334a13" /><Relationship Type="http://schemas.openxmlformats.org/officeDocument/2006/relationships/slide" Target="/ppt/slides/slide7.xml" Id="R434d3deaf0b24769" /><Relationship Type="http://schemas.openxmlformats.org/officeDocument/2006/relationships/slide" Target="/ppt/slides/slide8.xml" Id="Rfbc2f04e091640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b47c5d8eae4c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cf3bda36094978" /><Relationship Type="http://schemas.openxmlformats.org/officeDocument/2006/relationships/notesMaster" Target="/ppt/notesMasters/notesMaster1.xml" Id="R87075ae3e93148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1780bfb4f34ec2" /><Relationship Type="http://schemas.openxmlformats.org/officeDocument/2006/relationships/notesMaster" Target="/ppt/notesMasters/notesMaster1.xml" Id="R39987acd85864d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8b1ac2a6304fcc" /><Relationship Type="http://schemas.openxmlformats.org/officeDocument/2006/relationships/notesMaster" Target="/ppt/notesMasters/notesMaster1.xml" Id="R643cc7fcd5424d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edff6cd57e42fb" /><Relationship Type="http://schemas.openxmlformats.org/officeDocument/2006/relationships/notesMaster" Target="/ppt/notesMasters/notesMaster1.xml" Id="R64be981310a740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2cb6b867994363" /><Relationship Type="http://schemas.openxmlformats.org/officeDocument/2006/relationships/notesMaster" Target="/ppt/notesMasters/notesMaster1.xml" Id="Rf3e2c5364ebe43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7e40d121934dfe" /><Relationship Type="http://schemas.openxmlformats.org/officeDocument/2006/relationships/notesMaster" Target="/ppt/notesMasters/notesMaster1.xml" Id="Rac60fd1dbe844c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0927ae41824b94" /><Relationship Type="http://schemas.openxmlformats.org/officeDocument/2006/relationships/notesMaster" Target="/ppt/notesMasters/notesMaster1.xml" Id="R55db5dd673e24c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85163e0ca6481b" /><Relationship Type="http://schemas.openxmlformats.org/officeDocument/2006/relationships/notesMaster" Target="/ppt/notesMasters/notesMaster1.xml" Id="R0fba1016cf7c44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Открыть с ключевого обещания: универсален lifecycle расследования, а не магическое знание любой инфраструктуры.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docs/threat-model.md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src/incident_investigator/core/ports.py</a:t>
            </a:r>
          </a:p>
          <a:p xmlns:a="http://schemas.openxmlformats.org/drawingml/2006/main">
            <a:r>
              <a:t>- src/incident_investigator/core/graph.py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docs/threat-model.md</a:t>
            </a:r>
          </a:p>
          <a:p xmlns:a="http://schemas.openxmlformats.org/drawingml/2006/main">
            <a:r>
              <a:t>- src/incident_investigator/core/graph.py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docs/demo-runbook.md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tests/integration/test_real_docker_remediation.py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docs/demo-runbook.md</a:t>
            </a:r>
          </a:p>
          <a:p xmlns:a="http://schemas.openxmlformats.org/drawingml/2006/main">
            <a:r>
              <a:t>- evals/ground_truth.yaml</a:t>
            </a:r>
          </a:p>
          <a:p xmlns:a="http://schemas.openxmlformats.org/drawingml/2006/main">
            <a:r>
              <a:t>- compose.runtime.yaml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docs/threat-model.md</a:t>
            </a:r>
          </a:p>
          <a:p xmlns:a="http://schemas.openxmlformats.org/drawingml/2006/main">
            <a:r>
              <a:t>- src/incident_investigator/core/policy.py</a:t>
            </a:r>
          </a:p>
          <a:p xmlns:a="http://schemas.openxmlformats.org/drawingml/2006/main">
            <a:r>
              <a:t>- src/incident_investigator/core/remediation.py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Закрыть тем же тезисом, с которого началась работа: расширяемость доказана двумя принципиально разными путями.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docs/roadmap.md</a:t>
            </a:r>
          </a:p>
          <a:p xmlns:a="http://schemas.openxmlformats.org/drawingml/2006/main">
            <a:r>
              <a:t>- docs/demo-runbook.md</a:t>
            </a:r>
          </a:p>
          <a:p xmlns:a="http://schemas.openxmlformats.org/drawingml/2006/main">
            <a:r>
              <a:t>- tests/</a:t>
            </a:r>
          </a:p>
          <a:p xmlns:a="http://schemas.openxmlformats.org/drawingml/2006/main">
            <a:r>
              <a:t>- evals/ground_truth.yaml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8636b67e948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a19a55b4fb457b" /><Relationship Type="http://schemas.openxmlformats.org/officeDocument/2006/relationships/slideLayout" Target="/ppt/slideLayouts/slideLayout1.xml" Id="R9c5b32d1bcb64a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5b32d1bcb64a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6377ad9f442fb" /><Relationship Type="http://schemas.openxmlformats.org/officeDocument/2006/relationships/notesSlide" Target="/ppt/notesSlides/notesSlide1.xml" Id="R13c083097dd248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be770b3424cf8" /><Relationship Type="http://schemas.openxmlformats.org/officeDocument/2006/relationships/notesSlide" Target="/ppt/notesSlides/notesSlide2.xml" Id="R1c9c166e4ba443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9061dba6e4457" /><Relationship Type="http://schemas.openxmlformats.org/officeDocument/2006/relationships/notesSlide" Target="/ppt/notesSlides/notesSlide3.xml" Id="R9173110a1ed74d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1a4128ed948bd" /><Relationship Type="http://schemas.openxmlformats.org/officeDocument/2006/relationships/notesSlide" Target="/ppt/notesSlides/notesSlide4.xml" Id="Rf7045068ebd34b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64662d5da40ef" /><Relationship Type="http://schemas.openxmlformats.org/officeDocument/2006/relationships/notesSlide" Target="/ppt/notesSlides/notesSlide5.xml" Id="R93f80a2096e840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b9e98824a468a" /><Relationship Type="http://schemas.openxmlformats.org/officeDocument/2006/relationships/notesSlide" Target="/ppt/notesSlides/notesSlide6.xml" Id="R4edf6f3d21b64c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03ad052ef4c9c" /><Relationship Type="http://schemas.openxmlformats.org/officeDocument/2006/relationships/notesSlide" Target="/ppt/notesSlides/notesSlide7.xml" Id="Rb3da4ec6f15945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7f0891e404060" /><Relationship Type="http://schemas.openxmlformats.org/officeDocument/2006/relationships/notesSlide" Target="/ppt/notesSlides/notesSlide8.xml" Id="R113cffbcd33947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-52-42">
            <a:extLst xmlns:a="http://schemas.openxmlformats.org/drawingml/2006/main">
              <a:ext uri="{FF2B5EF4-FFF2-40B4-BE49-F238E27FC236}">
                <a16:creationId xmlns:a16="http://schemas.microsoft.com/office/drawing/2014/main" id="{D5B5B9F1-933C-4337-A672-712719FF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47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4735"/>
                </a:solidFill>
                <a:latin typeface="Arial"/>
                <a:ea typeface="Arial"/>
                <a:cs typeface="Arial"/>
              </a:rPr>
              <a:t>CAPSTONE · AUTONOMOUS AGENTS</a:t>
            </a:r>
          </a:p>
        </p:txBody>
      </p:sp>
      <p:sp>
        <p:nvSpPr>
          <p:cNvPr id="2" name="cover-meta">
            <a:extLst xmlns:a="http://schemas.openxmlformats.org/drawingml/2006/main">
              <a:ext uri="{FF2B5EF4-FFF2-40B4-BE49-F238E27FC236}">
                <a16:creationId xmlns:a16="http://schemas.microsoft.com/office/drawing/2014/main" id="{1923B287-6DA0-46EB-B2BA-3CFC43CE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GitHub · GitLab · Prometheus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F5FCF8D-645F-4F70-81DE-C7EA594D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52700"/>
            <a:ext cx="9810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Pluggable Multi-Agent</a:t>
            </a:r>
          </a:p>
          <a:p xmlns:a="http://schemas.openxmlformats.org/drawingml/2006/main">
            <a:pPr algn="l">
              <a:defRPr sz="510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Incident Investigator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BAFFD226-FCAF-4183-B107-370D25B3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EAC2D7E-693B-4B44-BFAF-74C3054F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198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Один durable core для CI- и runtime-инцидентов</a:t>
            </a:r>
          </a:p>
        </p:txBody>
      </p:sp>
    </p:spTree>
    <p:extLst>
      <p:ext uri="{BB962C8B-B14F-4D97-AF65-F5344CB8AC3E}">
        <p14:creationId xmlns:p14="http://schemas.microsoft.com/office/powerpoint/2010/main" val="4096708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2">
            <a:extLst xmlns:a="http://schemas.openxmlformats.org/drawingml/2006/main">
              <a:ext uri="{FF2B5EF4-FFF2-40B4-BE49-F238E27FC236}">
                <a16:creationId xmlns:a16="http://schemas.microsoft.com/office/drawing/2014/main" id="{100BB41C-1342-48D7-9D67-67D0448E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9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Coding agent решает задачу. Incident system отвечает за контур.</a:t>
            </a:r>
          </a:p>
        </p:txBody>
      </p:sp>
      <p:sp>
        <p:nvSpPr>
          <p:cNvPr id="2" name="number-2">
            <a:extLst xmlns:a="http://schemas.openxmlformats.org/drawingml/2006/main">
              <a:ext uri="{FF2B5EF4-FFF2-40B4-BE49-F238E27FC236}">
                <a16:creationId xmlns:a16="http://schemas.microsoft.com/office/drawing/2014/main" id="{7BA6278B-E456-4946-B9A2-36E2B4C6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agent-field">
            <a:extLst xmlns:a="http://schemas.openxmlformats.org/drawingml/2006/main">
              <a:ext uri="{FF2B5EF4-FFF2-40B4-BE49-F238E27FC236}">
                <a16:creationId xmlns:a16="http://schemas.microsoft.com/office/drawing/2014/main" id="{6122BBD2-C9A6-4692-8304-2C30AFA5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52578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ystem-field">
            <a:extLst xmlns:a="http://schemas.openxmlformats.org/drawingml/2006/main">
              <a:ext uri="{FF2B5EF4-FFF2-40B4-BE49-F238E27FC236}">
                <a16:creationId xmlns:a16="http://schemas.microsoft.com/office/drawing/2014/main" id="{F37FE1A9-3228-431A-BE5C-BDF86526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33550"/>
            <a:ext cx="52768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eyebrow-80-214">
            <a:extLst xmlns:a="http://schemas.openxmlformats.org/drawingml/2006/main">
              <a:ext uri="{FF2B5EF4-FFF2-40B4-BE49-F238E27FC236}">
                <a16:creationId xmlns:a16="http://schemas.microsoft.com/office/drawing/2014/main" id="{C77FA588-5560-4D87-816E-149E9883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47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4735"/>
                </a:solidFill>
                <a:latin typeface="Arial"/>
                <a:ea typeface="Arial"/>
                <a:cs typeface="Arial"/>
              </a:rPr>
              <a:t>ОБЫЧНЫЙ CODING AGENT</a:t>
            </a:r>
          </a:p>
        </p:txBody>
      </p:sp>
      <p:sp>
        <p:nvSpPr>
          <p:cNvPr id="6" name="agent-thesis">
            <a:extLst xmlns:a="http://schemas.openxmlformats.org/drawingml/2006/main">
              <a:ext uri="{FF2B5EF4-FFF2-40B4-BE49-F238E27FC236}">
                <a16:creationId xmlns:a16="http://schemas.microsoft.com/office/drawing/2014/main" id="{F56CEB55-0D60-444C-942C-5251CE9D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Работает внутри одной сессии</a:t>
            </a:r>
          </a:p>
        </p:txBody>
      </p:sp>
      <p:sp>
        <p:nvSpPr>
          <p:cNvPr id="7" name="agent-list-dot-0">
            <a:extLst xmlns:a="http://schemas.openxmlformats.org/drawingml/2006/main">
              <a:ext uri="{FF2B5EF4-FFF2-40B4-BE49-F238E27FC236}">
                <a16:creationId xmlns:a16="http://schemas.microsoft.com/office/drawing/2014/main" id="{0E21696C-673D-493A-9B9F-00080ED6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35"/>
          </a:solidFill>
          <a:ln xmlns:a="http://schemas.openxmlformats.org/drawingml/2006/main" w="14288">
            <a:solidFill>
              <a:srgbClr val="C94735"/>
            </a:solidFill>
            <a:prstDash val="solid"/>
          </a:ln>
        </p:spPr>
      </p:sp>
      <p:sp>
        <p:nvSpPr>
          <p:cNvPr id="8" name="agent-list-0">
            <a:extLst xmlns:a="http://schemas.openxmlformats.org/drawingml/2006/main">
              <a:ext uri="{FF2B5EF4-FFF2-40B4-BE49-F238E27FC236}">
                <a16:creationId xmlns:a16="http://schemas.microsoft.com/office/drawing/2014/main" id="{9C502C98-1CBE-4AC7-9B72-F7EC0F2B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4210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51715"/>
                </a:solidFill>
                <a:latin typeface="Arial"/>
                <a:ea typeface="Arial"/>
                <a:cs typeface="Arial"/>
              </a:rPr>
              <a:t>Пользователь сам приносит контекст</a:t>
            </a:r>
          </a:p>
        </p:txBody>
      </p:sp>
      <p:sp>
        <p:nvSpPr>
          <p:cNvPr id="9" name="agent-list-dot-1">
            <a:extLst xmlns:a="http://schemas.openxmlformats.org/drawingml/2006/main">
              <a:ext uri="{FF2B5EF4-FFF2-40B4-BE49-F238E27FC236}">
                <a16:creationId xmlns:a16="http://schemas.microsoft.com/office/drawing/2014/main" id="{B4505819-0F5B-45B4-9A9F-4FD28AC2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35"/>
          </a:solidFill>
          <a:ln xmlns:a="http://schemas.openxmlformats.org/drawingml/2006/main" w="14288">
            <a:solidFill>
              <a:srgbClr val="C94735"/>
            </a:solidFill>
            <a:prstDash val="solid"/>
          </a:ln>
        </p:spPr>
      </p:sp>
      <p:sp>
        <p:nvSpPr>
          <p:cNvPr id="10" name="agent-list-1">
            <a:extLst xmlns:a="http://schemas.openxmlformats.org/drawingml/2006/main">
              <a:ext uri="{FF2B5EF4-FFF2-40B4-BE49-F238E27FC236}">
                <a16:creationId xmlns:a16="http://schemas.microsoft.com/office/drawing/2014/main" id="{837CD0D5-B6C8-4CEC-8061-B5770D50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29025"/>
            <a:ext cx="4210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51715"/>
                </a:solidFill>
                <a:latin typeface="Arial"/>
                <a:ea typeface="Arial"/>
                <a:cs typeface="Arial"/>
              </a:rPr>
              <a:t>Нет гарантированной очереди и дедупликации</a:t>
            </a:r>
          </a:p>
        </p:txBody>
      </p:sp>
      <p:sp>
        <p:nvSpPr>
          <p:cNvPr id="11" name="agent-list-dot-2">
            <a:extLst xmlns:a="http://schemas.openxmlformats.org/drawingml/2006/main">
              <a:ext uri="{FF2B5EF4-FFF2-40B4-BE49-F238E27FC236}">
                <a16:creationId xmlns:a16="http://schemas.microsoft.com/office/drawing/2014/main" id="{A57B2920-43E6-47F7-ADEA-CF4EEB2C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35"/>
          </a:solidFill>
          <a:ln xmlns:a="http://schemas.openxmlformats.org/drawingml/2006/main" w="14288">
            <a:solidFill>
              <a:srgbClr val="C94735"/>
            </a:solidFill>
            <a:prstDash val="solid"/>
          </a:ln>
        </p:spPr>
      </p:sp>
      <p:sp>
        <p:nvSpPr>
          <p:cNvPr id="12" name="agent-list-2">
            <a:extLst xmlns:a="http://schemas.openxmlformats.org/drawingml/2006/main">
              <a:ext uri="{FF2B5EF4-FFF2-40B4-BE49-F238E27FC236}">
                <a16:creationId xmlns:a16="http://schemas.microsoft.com/office/drawing/2014/main" id="{C0CB3391-FC22-4538-9955-B5586D2E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2900"/>
            <a:ext cx="4210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51715"/>
                </a:solidFill>
                <a:latin typeface="Arial"/>
                <a:ea typeface="Arial"/>
                <a:cs typeface="Arial"/>
              </a:rPr>
              <a:t>Разрешения часто смешаны с reasoning</a:t>
            </a:r>
          </a:p>
        </p:txBody>
      </p:sp>
      <p:sp>
        <p:nvSpPr>
          <p:cNvPr id="13" name="agent-list-dot-3">
            <a:extLst xmlns:a="http://schemas.openxmlformats.org/drawingml/2006/main">
              <a:ext uri="{FF2B5EF4-FFF2-40B4-BE49-F238E27FC236}">
                <a16:creationId xmlns:a16="http://schemas.microsoft.com/office/drawing/2014/main" id="{FB28AD81-FCA2-4EF5-9192-42500E2F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35"/>
          </a:solidFill>
          <a:ln xmlns:a="http://schemas.openxmlformats.org/drawingml/2006/main" w="14288">
            <a:solidFill>
              <a:srgbClr val="C94735"/>
            </a:solidFill>
            <a:prstDash val="solid"/>
          </a:ln>
        </p:spPr>
      </p:sp>
      <p:sp>
        <p:nvSpPr>
          <p:cNvPr id="14" name="agent-list-3">
            <a:extLst xmlns:a="http://schemas.openxmlformats.org/drawingml/2006/main">
              <a:ext uri="{FF2B5EF4-FFF2-40B4-BE49-F238E27FC236}">
                <a16:creationId xmlns:a16="http://schemas.microsoft.com/office/drawing/2014/main" id="{0F1A63A0-78A8-409B-AF1F-9829B896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4210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51715"/>
                </a:solidFill>
                <a:latin typeface="Arial"/>
                <a:ea typeface="Arial"/>
                <a:cs typeface="Arial"/>
              </a:rPr>
              <a:t>Результат — ответ или patch</a:t>
            </a:r>
          </a:p>
        </p:txBody>
      </p:sp>
      <p:sp>
        <p:nvSpPr>
          <p:cNvPr id="15" name="eyebrow-704-214">
            <a:extLst xmlns:a="http://schemas.openxmlformats.org/drawingml/2006/main">
              <a:ext uri="{FF2B5EF4-FFF2-40B4-BE49-F238E27FC236}">
                <a16:creationId xmlns:a16="http://schemas.microsoft.com/office/drawing/2014/main" id="{E78960AD-607B-42A1-A1C7-1FE0D31D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38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47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4735"/>
                </a:solidFill>
                <a:latin typeface="Arial"/>
                <a:ea typeface="Arial"/>
                <a:cs typeface="Arial"/>
              </a:rPr>
              <a:t>INCIDENT INVESTIGATOR</a:t>
            </a:r>
          </a:p>
        </p:txBody>
      </p:sp>
      <p:sp>
        <p:nvSpPr>
          <p:cNvPr id="16" name="system-thesis">
            <a:extLst xmlns:a="http://schemas.openxmlformats.org/drawingml/2006/main">
              <a:ext uri="{FF2B5EF4-FFF2-40B4-BE49-F238E27FC236}">
                <a16:creationId xmlns:a16="http://schemas.microsoft.com/office/drawing/2014/main" id="{172810CC-F0E1-4019-9F4E-9A86DF93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4552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Живёт между событием и безопасным действием</a:t>
            </a:r>
          </a:p>
        </p:txBody>
      </p:sp>
      <p:sp>
        <p:nvSpPr>
          <p:cNvPr id="17" name="system-list-dot-0">
            <a:extLst xmlns:a="http://schemas.openxmlformats.org/drawingml/2006/main">
              <a:ext uri="{FF2B5EF4-FFF2-40B4-BE49-F238E27FC236}">
                <a16:creationId xmlns:a16="http://schemas.microsoft.com/office/drawing/2014/main" id="{CF58935F-B36C-4E44-9A1A-5F810357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71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35"/>
          </a:solidFill>
          <a:ln xmlns:a="http://schemas.openxmlformats.org/drawingml/2006/main" w="14288">
            <a:solidFill>
              <a:srgbClr val="C94735"/>
            </a:solidFill>
            <a:prstDash val="solid"/>
          </a:ln>
        </p:spPr>
      </p:sp>
      <p:sp>
        <p:nvSpPr>
          <p:cNvPr id="18" name="system-list-0">
            <a:extLst xmlns:a="http://schemas.openxmlformats.org/drawingml/2006/main">
              <a:ext uri="{FF2B5EF4-FFF2-40B4-BE49-F238E27FC236}">
                <a16:creationId xmlns:a16="http://schemas.microsoft.com/office/drawing/2014/main" id="{CABC6B82-B8BB-4429-B585-8C63291C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05150"/>
            <a:ext cx="4286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51715"/>
                </a:solidFill>
                <a:latin typeface="Arial"/>
                <a:ea typeface="Arial"/>
                <a:cs typeface="Arial"/>
              </a:rPr>
              <a:t>Webhook → durable investigation</a:t>
            </a:r>
          </a:p>
        </p:txBody>
      </p:sp>
      <p:sp>
        <p:nvSpPr>
          <p:cNvPr id="19" name="system-list-dot-1">
            <a:extLst xmlns:a="http://schemas.openxmlformats.org/drawingml/2006/main">
              <a:ext uri="{FF2B5EF4-FFF2-40B4-BE49-F238E27FC236}">
                <a16:creationId xmlns:a16="http://schemas.microsoft.com/office/drawing/2014/main" id="{CB2C7E74-B6A4-4F00-8400-5F989239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35"/>
          </a:solidFill>
          <a:ln xmlns:a="http://schemas.openxmlformats.org/drawingml/2006/main" w="14288">
            <a:solidFill>
              <a:srgbClr val="C94735"/>
            </a:solidFill>
            <a:prstDash val="solid"/>
          </a:ln>
        </p:spPr>
      </p:sp>
      <p:sp>
        <p:nvSpPr>
          <p:cNvPr id="20" name="system-list-1">
            <a:extLst xmlns:a="http://schemas.openxmlformats.org/drawingml/2006/main">
              <a:ext uri="{FF2B5EF4-FFF2-40B4-BE49-F238E27FC236}">
                <a16:creationId xmlns:a16="http://schemas.microsoft.com/office/drawing/2014/main" id="{08F41F0B-BBD1-4219-922E-B9CD9391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29025"/>
            <a:ext cx="4286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51715"/>
                </a:solidFill>
                <a:latin typeface="Arial"/>
                <a:ea typeface="Arial"/>
                <a:cs typeface="Arial"/>
              </a:rPr>
              <a:t>Evidence provenance и Reflexion</a:t>
            </a:r>
          </a:p>
        </p:txBody>
      </p:sp>
      <p:sp>
        <p:nvSpPr>
          <p:cNvPr id="21" name="system-list-dot-2">
            <a:extLst xmlns:a="http://schemas.openxmlformats.org/drawingml/2006/main">
              <a:ext uri="{FF2B5EF4-FFF2-40B4-BE49-F238E27FC236}">
                <a16:creationId xmlns:a16="http://schemas.microsoft.com/office/drawing/2014/main" id="{5A921A3C-A303-40D2-9E97-8CAFA5EC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35"/>
          </a:solidFill>
          <a:ln xmlns:a="http://schemas.openxmlformats.org/drawingml/2006/main" w="14288">
            <a:solidFill>
              <a:srgbClr val="C94735"/>
            </a:solidFill>
            <a:prstDash val="solid"/>
          </a:ln>
        </p:spPr>
      </p:sp>
      <p:sp>
        <p:nvSpPr>
          <p:cNvPr id="22" name="system-list-2">
            <a:extLst xmlns:a="http://schemas.openxmlformats.org/drawingml/2006/main">
              <a:ext uri="{FF2B5EF4-FFF2-40B4-BE49-F238E27FC236}">
                <a16:creationId xmlns:a16="http://schemas.microsoft.com/office/drawing/2014/main" id="{F3362EB1-0E78-45E3-9890-8D88624D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52900"/>
            <a:ext cx="4286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51715"/>
                </a:solidFill>
                <a:latin typeface="Arial"/>
                <a:ea typeface="Arial"/>
                <a:cs typeface="Arial"/>
              </a:rPr>
              <a:t>Policy и бюджеты вне LLM</a:t>
            </a:r>
          </a:p>
        </p:txBody>
      </p:sp>
      <p:sp>
        <p:nvSpPr>
          <p:cNvPr id="23" name="system-list-dot-3">
            <a:extLst xmlns:a="http://schemas.openxmlformats.org/drawingml/2006/main">
              <a:ext uri="{FF2B5EF4-FFF2-40B4-BE49-F238E27FC236}">
                <a16:creationId xmlns:a16="http://schemas.microsoft.com/office/drawing/2014/main" id="{9914D8A8-EE7B-4767-BBC2-DF4DDCF4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35"/>
          </a:solidFill>
          <a:ln xmlns:a="http://schemas.openxmlformats.org/drawingml/2006/main" w="14288">
            <a:solidFill>
              <a:srgbClr val="C94735"/>
            </a:solidFill>
            <a:prstDash val="solid"/>
          </a:ln>
        </p:spPr>
      </p:sp>
      <p:sp>
        <p:nvSpPr>
          <p:cNvPr id="24" name="system-list-3">
            <a:extLst xmlns:a="http://schemas.openxmlformats.org/drawingml/2006/main">
              <a:ext uri="{FF2B5EF4-FFF2-40B4-BE49-F238E27FC236}">
                <a16:creationId xmlns:a16="http://schemas.microsoft.com/office/drawing/2014/main" id="{BBA00431-72C7-4B78-A33C-CF26514F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76775"/>
            <a:ext cx="4286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51715"/>
                </a:solidFill>
                <a:latin typeface="Arial"/>
                <a:ea typeface="Arial"/>
                <a:cs typeface="Arial"/>
              </a:rPr>
              <a:t>HitL → проверенный draft PR/MR</a:t>
            </a:r>
          </a:p>
        </p:txBody>
      </p:sp>
    </p:spTree>
    <p:extLst>
      <p:ext uri="{BB962C8B-B14F-4D97-AF65-F5344CB8AC3E}">
        <p14:creationId xmlns:p14="http://schemas.microsoft.com/office/powerpoint/2010/main" val="312346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3">
            <a:extLst xmlns:a="http://schemas.openxmlformats.org/drawingml/2006/main">
              <a:ext uri="{FF2B5EF4-FFF2-40B4-BE49-F238E27FC236}">
                <a16:creationId xmlns:a16="http://schemas.microsoft.com/office/drawing/2014/main" id="{85A0B74B-8C74-4F0E-A4DF-E0FF8105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Адаптеры меняются. Investigation core остаётся.</a:t>
            </a:r>
          </a:p>
        </p:txBody>
      </p:sp>
      <p:sp>
        <p:nvSpPr>
          <p:cNvPr id="2" name="number-3">
            <a:extLst xmlns:a="http://schemas.openxmlformats.org/drawingml/2006/main">
              <a:ext uri="{FF2B5EF4-FFF2-40B4-BE49-F238E27FC236}">
                <a16:creationId xmlns:a16="http://schemas.microsoft.com/office/drawing/2014/main" id="{B524DE08-8CE0-459A-A1EB-57786840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github-adapter">
            <a:extLst xmlns:a="http://schemas.openxmlformats.org/drawingml/2006/main">
              <a:ext uri="{FF2B5EF4-FFF2-40B4-BE49-F238E27FC236}">
                <a16:creationId xmlns:a16="http://schemas.microsoft.com/office/drawing/2014/main" id="{E8ACF15C-D495-401F-A380-3F793C38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gitlab-adapter">
            <a:extLst xmlns:a="http://schemas.openxmlformats.org/drawingml/2006/main">
              <a:ext uri="{FF2B5EF4-FFF2-40B4-BE49-F238E27FC236}">
                <a16:creationId xmlns:a16="http://schemas.microsoft.com/office/drawing/2014/main" id="{B6C34C43-E47F-485C-B498-F436FCAA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prometheus-adapter">
            <a:extLst xmlns:a="http://schemas.openxmlformats.org/drawingml/2006/main">
              <a:ext uri="{FF2B5EF4-FFF2-40B4-BE49-F238E27FC236}">
                <a16:creationId xmlns:a16="http://schemas.microsoft.com/office/drawing/2014/main" id="{D1709953-CF40-4F0C-BF50-4F8095B5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orchestration-core">
            <a:extLst xmlns:a="http://schemas.openxmlformats.org/drawingml/2006/main">
              <a:ext uri="{FF2B5EF4-FFF2-40B4-BE49-F238E27FC236}">
                <a16:creationId xmlns:a16="http://schemas.microsoft.com/office/drawing/2014/main" id="{36B86548-D673-4243-B064-A5D23723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09800"/>
            <a:ext cx="3905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5"/>
          </a:solidFill>
          <a:ln xmlns:a="http://schemas.openxmlformats.org/drawingml/2006/main" w="9525">
            <a:solidFill>
              <a:srgbClr val="151715"/>
            </a:solidFill>
            <a:prstDash val="solid"/>
          </a:ln>
        </p:spPr>
      </p:sp>
      <p:sp>
        <p:nvSpPr>
          <p:cNvPr id="7" name="dashboard-output">
            <a:extLst xmlns:a="http://schemas.openxmlformats.org/drawingml/2006/main">
              <a:ext uri="{FF2B5EF4-FFF2-40B4-BE49-F238E27FC236}">
                <a16:creationId xmlns:a16="http://schemas.microsoft.com/office/drawing/2014/main" id="{F2FA7F38-8A91-4661-9E95-BE5E055E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383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telegram-output">
            <a:extLst xmlns:a="http://schemas.openxmlformats.org/drawingml/2006/main">
              <a:ext uri="{FF2B5EF4-FFF2-40B4-BE49-F238E27FC236}">
                <a16:creationId xmlns:a16="http://schemas.microsoft.com/office/drawing/2014/main" id="{A23DEC42-DF64-4756-9F0C-0A5FF2BE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004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draft-output">
            <a:extLst xmlns:a="http://schemas.openxmlformats.org/drawingml/2006/main">
              <a:ext uri="{FF2B5EF4-FFF2-40B4-BE49-F238E27FC236}">
                <a16:creationId xmlns:a16="http://schemas.microsoft.com/office/drawing/2014/main" id="{C2F7348E-133F-44C1-BDBF-69AC2A35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624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34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62250" y="2276475"/>
            <a:ext cx="1333500" cy="1171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35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62250" y="3438525"/>
            <a:ext cx="1333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762250" y="3448050"/>
            <a:ext cx="1333500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8001000" y="2390775"/>
            <a:ext cx="1333500" cy="1057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001000" y="3448050"/>
            <a:ext cx="133350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001000" y="3448050"/>
            <a:ext cx="133350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sp>
        <p:nvSpPr>
          <p:cNvPr id="16" name="github-label">
            <a:extLst xmlns:a="http://schemas.openxmlformats.org/drawingml/2006/main">
              <a:ext uri="{FF2B5EF4-FFF2-40B4-BE49-F238E27FC236}">
                <a16:creationId xmlns:a16="http://schemas.microsoft.com/office/drawing/2014/main" id="{E317C6A5-2113-46AB-A1D4-5DB3A06E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GitHub Actions</a:t>
            </a:r>
          </a:p>
        </p:txBody>
      </p:sp>
      <p:sp>
        <p:nvSpPr>
          <p:cNvPr id="17" name="gitlab-label">
            <a:extLst xmlns:a="http://schemas.openxmlformats.org/drawingml/2006/main">
              <a:ext uri="{FF2B5EF4-FFF2-40B4-BE49-F238E27FC236}">
                <a16:creationId xmlns:a16="http://schemas.microsoft.com/office/drawing/2014/main" id="{4F3B7342-AEC7-4760-8F3E-215FCE40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051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GitLab CI</a:t>
            </a:r>
          </a:p>
        </p:txBody>
      </p:sp>
      <p:sp>
        <p:nvSpPr>
          <p:cNvPr id="18" name="prom-label">
            <a:extLst xmlns:a="http://schemas.openxmlformats.org/drawingml/2006/main">
              <a:ext uri="{FF2B5EF4-FFF2-40B4-BE49-F238E27FC236}">
                <a16:creationId xmlns:a16="http://schemas.microsoft.com/office/drawing/2014/main" id="{2F23D6DC-F3F3-43C0-8C08-0941F3D3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Alertmanager</a:t>
            </a:r>
          </a:p>
        </p:txBody>
      </p:sp>
      <p:sp>
        <p:nvSpPr>
          <p:cNvPr id="19" name="eyebrow-472-266">
            <a:extLst xmlns:a="http://schemas.openxmlformats.org/drawingml/2006/main">
              <a:ext uri="{FF2B5EF4-FFF2-40B4-BE49-F238E27FC236}">
                <a16:creationId xmlns:a16="http://schemas.microsoft.com/office/drawing/2014/main" id="{BF159829-BDE3-4410-9CE0-C33C703C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33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47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4735"/>
                </a:solidFill>
                <a:latin typeface="Arial"/>
                <a:ea typeface="Arial"/>
                <a:cs typeface="Arial"/>
              </a:rPr>
              <a:t>DURABLE LANGGRAPH</a:t>
            </a:r>
          </a:p>
        </p:txBody>
      </p:sp>
      <p:sp>
        <p:nvSpPr>
          <p:cNvPr id="20" name="core-loop">
            <a:extLst xmlns:a="http://schemas.openxmlformats.org/drawingml/2006/main">
              <a:ext uri="{FF2B5EF4-FFF2-40B4-BE49-F238E27FC236}">
                <a16:creationId xmlns:a16="http://schemas.microsoft.com/office/drawing/2014/main" id="{656F9535-4469-41B7-8B91-12D0CC96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90850"/>
            <a:ext cx="3105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hypothesis → evidence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verification → reflection</a:t>
            </a:r>
          </a:p>
        </p:txBody>
      </p:sp>
      <p:sp>
        <p:nvSpPr>
          <p:cNvPr id="21" name="core-guard">
            <a:extLst xmlns:a="http://schemas.openxmlformats.org/drawingml/2006/main">
              <a:ext uri="{FF2B5EF4-FFF2-40B4-BE49-F238E27FC236}">
                <a16:creationId xmlns:a16="http://schemas.microsoft.com/office/drawing/2014/main" id="{433D623D-DBD1-4757-900E-8A39277E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7195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budgets · policy · checkpoint · HitL</a:t>
            </a:r>
          </a:p>
        </p:txBody>
      </p:sp>
      <p:sp>
        <p:nvSpPr>
          <p:cNvPr id="22" name="dashboard-label">
            <a:extLst xmlns:a="http://schemas.openxmlformats.org/drawingml/2006/main">
              <a:ext uri="{FF2B5EF4-FFF2-40B4-BE49-F238E27FC236}">
                <a16:creationId xmlns:a16="http://schemas.microsoft.com/office/drawing/2014/main" id="{075ACA71-E291-4894-BC9F-AC032035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574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Operator UI</a:t>
            </a:r>
          </a:p>
        </p:txBody>
      </p:sp>
      <p:sp>
        <p:nvSpPr>
          <p:cNvPr id="23" name="telegram-label">
            <a:extLst xmlns:a="http://schemas.openxmlformats.org/drawingml/2006/main">
              <a:ext uri="{FF2B5EF4-FFF2-40B4-BE49-F238E27FC236}">
                <a16:creationId xmlns:a16="http://schemas.microsoft.com/office/drawing/2014/main" id="{EC892A56-396A-45E3-BE26-6EBEA17D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194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24" name="draft-label">
            <a:extLst xmlns:a="http://schemas.openxmlformats.org/drawingml/2006/main">
              <a:ext uri="{FF2B5EF4-FFF2-40B4-BE49-F238E27FC236}">
                <a16:creationId xmlns:a16="http://schemas.microsoft.com/office/drawing/2014/main" id="{52CFFE2D-F31E-455E-B140-88812AC1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815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Draft PR / MR</a:t>
            </a:r>
          </a:p>
        </p:txBody>
      </p:sp>
    </p:spTree>
    <p:extLst>
      <p:ext uri="{BB962C8B-B14F-4D97-AF65-F5344CB8AC3E}">
        <p14:creationId xmlns:p14="http://schemas.microsoft.com/office/powerpoint/2010/main" val="6656208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4">
            <a:extLst xmlns:a="http://schemas.openxmlformats.org/drawingml/2006/main">
              <a:ext uri="{FF2B5EF4-FFF2-40B4-BE49-F238E27FC236}">
                <a16:creationId xmlns:a16="http://schemas.microsoft.com/office/drawing/2014/main" id="{946DF404-5965-45C5-942E-4058C6F4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12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Production-ready — это управляемая траектория, а не длинный prompt.</a:t>
            </a:r>
          </a:p>
        </p:txBody>
      </p:sp>
      <p:sp>
        <p:nvSpPr>
          <p:cNvPr id="2" name="number-4">
            <a:extLst xmlns:a="http://schemas.openxmlformats.org/drawingml/2006/main">
              <a:ext uri="{FF2B5EF4-FFF2-40B4-BE49-F238E27FC236}">
                <a16:creationId xmlns:a16="http://schemas.microsoft.com/office/drawing/2014/main" id="{232C5BC4-8663-4DC4-95BE-F694A775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8FAAFD1B-7904-4E79-8C12-197FBA6C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ep-node-0">
            <a:extLst xmlns:a="http://schemas.openxmlformats.org/drawingml/2006/main">
              <a:ext uri="{FF2B5EF4-FFF2-40B4-BE49-F238E27FC236}">
                <a16:creationId xmlns:a16="http://schemas.microsoft.com/office/drawing/2014/main" id="{4E78CFA8-E5CE-48FA-98A1-95A502E2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715"/>
            </a:solidFill>
            <a:prstDash val="solid"/>
          </a:ln>
        </p:spPr>
      </p:sp>
      <p:sp>
        <p:nvSpPr>
          <p:cNvPr id="5" name="step-index-0">
            <a:extLst xmlns:a="http://schemas.openxmlformats.org/drawingml/2006/main">
              <a:ext uri="{FF2B5EF4-FFF2-40B4-BE49-F238E27FC236}">
                <a16:creationId xmlns:a16="http://schemas.microsoft.com/office/drawing/2014/main" id="{9771B1E0-C297-466F-842A-789BAA64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heading-0">
            <a:extLst xmlns:a="http://schemas.openxmlformats.org/drawingml/2006/main">
              <a:ext uri="{FF2B5EF4-FFF2-40B4-BE49-F238E27FC236}">
                <a16:creationId xmlns:a16="http://schemas.microsoft.com/office/drawing/2014/main" id="{45D5A945-2639-4253-A18C-809697F0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Принять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74F4CBD5-2A40-435B-ADAD-4121FFEE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866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Подпись, schema,</a:t>
            </a:r>
          </a:p>
          <a:p xmlns:a="http://schemas.openxmlformats.org/drawingml/2006/main">
            <a:pPr algn="l">
              <a:defRPr sz="1350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дедупликация</a:t>
            </a:r>
          </a:p>
        </p:txBody>
      </p:sp>
      <p:sp>
        <p:nvSpPr>
          <p:cNvPr id="8" name="step-node-1">
            <a:extLst xmlns:a="http://schemas.openxmlformats.org/drawingml/2006/main">
              <a:ext uri="{FF2B5EF4-FFF2-40B4-BE49-F238E27FC236}">
                <a16:creationId xmlns:a16="http://schemas.microsoft.com/office/drawing/2014/main" id="{9A14BDF4-C22B-4ED0-ADFC-FCADF545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105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715"/>
            </a:solidFill>
            <a:prstDash val="solid"/>
          </a:ln>
        </p:spPr>
      </p:sp>
      <p:sp>
        <p:nvSpPr>
          <p:cNvPr id="9" name="step-index-1">
            <a:extLst xmlns:a="http://schemas.openxmlformats.org/drawingml/2006/main">
              <a:ext uri="{FF2B5EF4-FFF2-40B4-BE49-F238E27FC236}">
                <a16:creationId xmlns:a16="http://schemas.microsoft.com/office/drawing/2014/main" id="{2886FCF5-FD19-449D-A4C1-EF1A0DAC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1813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step-heading-1">
            <a:extLst xmlns:a="http://schemas.openxmlformats.org/drawingml/2006/main">
              <a:ext uri="{FF2B5EF4-FFF2-40B4-BE49-F238E27FC236}">
                <a16:creationId xmlns:a16="http://schemas.microsoft.com/office/drawing/2014/main" id="{45DB1123-7D03-473F-A069-568AFF1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7147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Исследовать</a:t>
            </a:r>
          </a:p>
        </p:txBody>
      </p:sp>
      <p:sp>
        <p:nvSpPr>
          <p:cNvPr id="11" name="step-body-1">
            <a:extLst xmlns:a="http://schemas.openxmlformats.org/drawingml/2006/main">
              <a:ext uri="{FF2B5EF4-FFF2-40B4-BE49-F238E27FC236}">
                <a16:creationId xmlns:a16="http://schemas.microsoft.com/office/drawing/2014/main" id="{24A89186-D11D-40D8-995B-546D68C4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71950"/>
            <a:ext cx="1866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Read-only tools,</a:t>
            </a:r>
          </a:p>
          <a:p xmlns:a="http://schemas.openxmlformats.org/drawingml/2006/main">
            <a:pPr algn="l">
              <a:defRPr sz="1350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гипотезы</a:t>
            </a:r>
          </a:p>
        </p:txBody>
      </p:sp>
      <p:sp>
        <p:nvSpPr>
          <p:cNvPr id="12" name="step-node-2">
            <a:extLst xmlns:a="http://schemas.openxmlformats.org/drawingml/2006/main">
              <a:ext uri="{FF2B5EF4-FFF2-40B4-BE49-F238E27FC236}">
                <a16:creationId xmlns:a16="http://schemas.microsoft.com/office/drawing/2014/main" id="{A7F4ED16-0B27-4D5B-A512-18FBACB0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05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715"/>
            </a:solidFill>
            <a:prstDash val="solid"/>
          </a:ln>
        </p:spPr>
      </p:sp>
      <p:sp>
        <p:nvSpPr>
          <p:cNvPr id="13" name="step-index-2">
            <a:extLst xmlns:a="http://schemas.openxmlformats.org/drawingml/2006/main">
              <a:ext uri="{FF2B5EF4-FFF2-40B4-BE49-F238E27FC236}">
                <a16:creationId xmlns:a16="http://schemas.microsoft.com/office/drawing/2014/main" id="{23E41E17-3D54-43AD-8E18-AA2987E4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813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step-heading-2">
            <a:extLst xmlns:a="http://schemas.openxmlformats.org/drawingml/2006/main">
              <a:ext uri="{FF2B5EF4-FFF2-40B4-BE49-F238E27FC236}">
                <a16:creationId xmlns:a16="http://schemas.microsoft.com/office/drawing/2014/main" id="{1E7C5BAB-487D-44A7-8E5D-CBBDA8D9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147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15" name="step-body-2">
            <a:extLst xmlns:a="http://schemas.openxmlformats.org/drawingml/2006/main">
              <a:ext uri="{FF2B5EF4-FFF2-40B4-BE49-F238E27FC236}">
                <a16:creationId xmlns:a16="http://schemas.microsoft.com/office/drawing/2014/main" id="{BEA63C61-9157-4B06-AD1C-E28A2AB2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71950"/>
            <a:ext cx="1866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Reflexion, provenance,</a:t>
            </a:r>
          </a:p>
          <a:p xmlns:a="http://schemas.openxmlformats.org/drawingml/2006/main">
            <a:pPr algn="l">
              <a:defRPr sz="1350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лимиты</a:t>
            </a:r>
          </a:p>
        </p:txBody>
      </p:sp>
      <p:sp>
        <p:nvSpPr>
          <p:cNvPr id="16" name="step-node-3">
            <a:extLst xmlns:a="http://schemas.openxmlformats.org/drawingml/2006/main">
              <a:ext uri="{FF2B5EF4-FFF2-40B4-BE49-F238E27FC236}">
                <a16:creationId xmlns:a16="http://schemas.microsoft.com/office/drawing/2014/main" id="{A88CB14D-F705-4C68-B625-A7B449FD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105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715"/>
            </a:solidFill>
            <a:prstDash val="solid"/>
          </a:ln>
        </p:spPr>
      </p:sp>
      <p:sp>
        <p:nvSpPr>
          <p:cNvPr id="17" name="step-index-3">
            <a:extLst xmlns:a="http://schemas.openxmlformats.org/drawingml/2006/main">
              <a:ext uri="{FF2B5EF4-FFF2-40B4-BE49-F238E27FC236}">
                <a16:creationId xmlns:a16="http://schemas.microsoft.com/office/drawing/2014/main" id="{EB05B813-749D-4649-A6BA-B8BA45EA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1813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step-heading-3">
            <a:extLst xmlns:a="http://schemas.openxmlformats.org/drawingml/2006/main">
              <a:ext uri="{FF2B5EF4-FFF2-40B4-BE49-F238E27FC236}">
                <a16:creationId xmlns:a16="http://schemas.microsoft.com/office/drawing/2014/main" id="{006E6CC0-3B26-4C1F-8D32-ECFF21B8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7147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Подготовить</a:t>
            </a:r>
          </a:p>
        </p:txBody>
      </p:sp>
      <p:sp>
        <p:nvSpPr>
          <p:cNvPr id="19" name="step-body-3">
            <a:extLst xmlns:a="http://schemas.openxmlformats.org/drawingml/2006/main">
              <a:ext uri="{FF2B5EF4-FFF2-40B4-BE49-F238E27FC236}">
                <a16:creationId xmlns:a16="http://schemas.microsoft.com/office/drawing/2014/main" id="{5170072C-7AC6-4389-BB7B-CBD3DD60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171950"/>
            <a:ext cx="1866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Patch, sandbox,</a:t>
            </a:r>
          </a:p>
          <a:p xmlns:a="http://schemas.openxmlformats.org/drawingml/2006/main">
            <a:pPr algn="l">
              <a:defRPr sz="1350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critic</a:t>
            </a:r>
          </a:p>
        </p:txBody>
      </p:sp>
      <p:sp>
        <p:nvSpPr>
          <p:cNvPr id="20" name="step-node-4">
            <a:extLst xmlns:a="http://schemas.openxmlformats.org/drawingml/2006/main">
              <a:ext uri="{FF2B5EF4-FFF2-40B4-BE49-F238E27FC236}">
                <a16:creationId xmlns:a16="http://schemas.microsoft.com/office/drawing/2014/main" id="{E79FD520-6205-4D66-AC0F-FB234CD9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05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35"/>
          </a:solidFill>
          <a:ln xmlns:a="http://schemas.openxmlformats.org/drawingml/2006/main" w="14288">
            <a:solidFill>
              <a:srgbClr val="C94735"/>
            </a:solidFill>
            <a:prstDash val="solid"/>
          </a:ln>
        </p:spPr>
      </p:sp>
      <p:sp>
        <p:nvSpPr>
          <p:cNvPr id="21" name="step-index-4">
            <a:extLst xmlns:a="http://schemas.openxmlformats.org/drawingml/2006/main">
              <a:ext uri="{FF2B5EF4-FFF2-40B4-BE49-F238E27FC236}">
                <a16:creationId xmlns:a16="http://schemas.microsoft.com/office/drawing/2014/main" id="{63A3E185-9760-43B2-9571-E85AFEF3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813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step-heading-4">
            <a:extLst xmlns:a="http://schemas.openxmlformats.org/drawingml/2006/main">
              <a:ext uri="{FF2B5EF4-FFF2-40B4-BE49-F238E27FC236}">
                <a16:creationId xmlns:a16="http://schemas.microsoft.com/office/drawing/2014/main" id="{40D488AB-7569-4096-B9F9-D6FAF338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147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Разрешить</a:t>
            </a:r>
          </a:p>
        </p:txBody>
      </p:sp>
      <p:sp>
        <p:nvSpPr>
          <p:cNvPr id="23" name="step-body-4">
            <a:extLst xmlns:a="http://schemas.openxmlformats.org/drawingml/2006/main">
              <a:ext uri="{FF2B5EF4-FFF2-40B4-BE49-F238E27FC236}">
                <a16:creationId xmlns:a16="http://schemas.microsoft.com/office/drawing/2014/main" id="{4874BD40-13FD-492A-9A1C-9E24AB6F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71950"/>
            <a:ext cx="1866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HitL, publish,</a:t>
            </a:r>
          </a:p>
          <a:p xmlns:a="http://schemas.openxmlformats.org/drawingml/2006/main">
            <a:pPr algn="l">
              <a:defRPr sz="1350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sp>
        <p:nvSpPr>
          <p:cNvPr id="24" name="timeline-callout">
            <a:extLst xmlns:a="http://schemas.openxmlformats.org/drawingml/2006/main">
              <a:ext uri="{FF2B5EF4-FFF2-40B4-BE49-F238E27FC236}">
                <a16:creationId xmlns:a16="http://schemas.microsoft.com/office/drawing/2014/main" id="{61B70D9A-2164-46B0-8F05-BAE7A666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47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94735"/>
                </a:solidFill>
                <a:latin typeface="Arial"/>
                <a:ea typeface="Arial"/>
                <a:cs typeface="Arial"/>
              </a:rPr>
              <a:t>Любой side effect возникает только после проверок и решения человека.</a:t>
            </a:r>
          </a:p>
        </p:txBody>
      </p:sp>
    </p:spTree>
    <p:extLst>
      <p:ext uri="{BB962C8B-B14F-4D97-AF65-F5344CB8AC3E}">
        <p14:creationId xmlns:p14="http://schemas.microsoft.com/office/powerpoint/2010/main" val="4485819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5">
            <a:extLst xmlns:a="http://schemas.openxmlformats.org/drawingml/2006/main">
              <a:ext uri="{FF2B5EF4-FFF2-40B4-BE49-F238E27FC236}">
                <a16:creationId xmlns:a16="http://schemas.microsoft.com/office/drawing/2014/main" id="{AC44EFC2-0EDC-4C84-9379-9D207686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9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CI-сбой превращается в проверенный draft MR — не в автокоммит.</a:t>
            </a:r>
          </a:p>
        </p:txBody>
      </p:sp>
      <p:sp>
        <p:nvSpPr>
          <p:cNvPr id="2" name="number-5">
            <a:extLst xmlns:a="http://schemas.openxmlformats.org/drawingml/2006/main">
              <a:ext uri="{FF2B5EF4-FFF2-40B4-BE49-F238E27FC236}">
                <a16:creationId xmlns:a16="http://schemas.microsoft.com/office/drawing/2014/main" id="{BC3E3DD4-0005-4180-BF5C-9FB88F46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ci-stage-0">
            <a:extLst xmlns:a="http://schemas.openxmlformats.org/drawingml/2006/main">
              <a:ext uri="{FF2B5EF4-FFF2-40B4-BE49-F238E27FC236}">
                <a16:creationId xmlns:a16="http://schemas.microsoft.com/office/drawing/2014/main" id="{959D2FB9-4FE8-4ABE-B098-4DEAF268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862"/>
                </a:solidFill>
                <a:latin typeface="Arial"/>
                <a:ea typeface="Arial"/>
                <a:cs typeface="Arial"/>
              </a:rPr>
              <a:t>FAILED PIPELINE</a:t>
            </a:r>
          </a:p>
        </p:txBody>
      </p:sp>
      <p:sp>
        <p:nvSpPr>
          <p:cNvPr id="4" name="ci-result-0">
            <a:extLst xmlns:a="http://schemas.openxmlformats.org/drawingml/2006/main">
              <a:ext uri="{FF2B5EF4-FFF2-40B4-BE49-F238E27FC236}">
                <a16:creationId xmlns:a16="http://schemas.microsoft.com/office/drawing/2014/main" id="{B64C849D-2654-4EE6-956B-E8081BDA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5240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job trace + commit diff</a:t>
            </a:r>
          </a:p>
        </p:txBody>
      </p:sp>
      <p:sp>
        <p:nvSpPr>
          <p:cNvPr id="5" name="ci-guard-0">
            <a:extLst xmlns:a="http://schemas.openxmlformats.org/drawingml/2006/main">
              <a:ext uri="{FF2B5EF4-FFF2-40B4-BE49-F238E27FC236}">
                <a16:creationId xmlns:a16="http://schemas.microsoft.com/office/drawing/2014/main" id="{88BB4B33-585B-4D79-A486-9F0DA2EE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71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read-only evidence</a:t>
            </a:r>
          </a:p>
        </p:txBody>
      </p:sp>
      <p:sp>
        <p:nvSpPr>
          <p:cNvPr id="6" name="ci-rule-0">
            <a:extLst xmlns:a="http://schemas.openxmlformats.org/drawingml/2006/main">
              <a:ext uri="{FF2B5EF4-FFF2-40B4-BE49-F238E27FC236}">
                <a16:creationId xmlns:a16="http://schemas.microsoft.com/office/drawing/2014/main" id="{90E0207F-B441-447A-AD65-C8356D01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i-stage-1">
            <a:extLst xmlns:a="http://schemas.openxmlformats.org/drawingml/2006/main">
              <a:ext uri="{FF2B5EF4-FFF2-40B4-BE49-F238E27FC236}">
                <a16:creationId xmlns:a16="http://schemas.microsoft.com/office/drawing/2014/main" id="{90CE7156-ED77-4A10-BB98-0B1F639C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862"/>
                </a:solidFill>
                <a:latin typeface="Arial"/>
                <a:ea typeface="Arial"/>
                <a:cs typeface="Arial"/>
              </a:rPr>
              <a:t>ROOT CAUSE</a:t>
            </a:r>
          </a:p>
        </p:txBody>
      </p:sp>
      <p:sp>
        <p:nvSpPr>
          <p:cNvPr id="8" name="ci-result-1">
            <a:extLst xmlns:a="http://schemas.openxmlformats.org/drawingml/2006/main">
              <a:ext uri="{FF2B5EF4-FFF2-40B4-BE49-F238E27FC236}">
                <a16:creationId xmlns:a16="http://schemas.microsoft.com/office/drawing/2014/main" id="{40C4D4DF-1B43-483E-B957-5D11F2F6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479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retry_delay off-by-one</a:t>
            </a:r>
          </a:p>
        </p:txBody>
      </p:sp>
      <p:sp>
        <p:nvSpPr>
          <p:cNvPr id="9" name="ci-guard-1">
            <a:extLst xmlns:a="http://schemas.openxmlformats.org/drawingml/2006/main">
              <a:ext uri="{FF2B5EF4-FFF2-40B4-BE49-F238E27FC236}">
                <a16:creationId xmlns:a16="http://schemas.microsoft.com/office/drawing/2014/main" id="{D6C5246F-C53C-435B-A696-C5B7173E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955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structured hypotheses</a:t>
            </a:r>
          </a:p>
        </p:txBody>
      </p:sp>
      <p:sp>
        <p:nvSpPr>
          <p:cNvPr id="10" name="ci-rule-1">
            <a:extLst xmlns:a="http://schemas.openxmlformats.org/drawingml/2006/main">
              <a:ext uri="{FF2B5EF4-FFF2-40B4-BE49-F238E27FC236}">
                <a16:creationId xmlns:a16="http://schemas.microsoft.com/office/drawing/2014/main" id="{3B655C08-CF9E-40FA-B31C-88A524D2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i-stage-2">
            <a:extLst xmlns:a="http://schemas.openxmlformats.org/drawingml/2006/main">
              <a:ext uri="{FF2B5EF4-FFF2-40B4-BE49-F238E27FC236}">
                <a16:creationId xmlns:a16="http://schemas.microsoft.com/office/drawing/2014/main" id="{264DB938-CA61-4C28-8858-23F00C14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862"/>
                </a:solidFill>
                <a:latin typeface="Arial"/>
                <a:ea typeface="Arial"/>
                <a:cs typeface="Arial"/>
              </a:rPr>
              <a:t>PATCH</a:t>
            </a:r>
          </a:p>
        </p:txBody>
      </p:sp>
      <p:sp>
        <p:nvSpPr>
          <p:cNvPr id="12" name="ci-result-2">
            <a:extLst xmlns:a="http://schemas.openxmlformats.org/drawingml/2006/main">
              <a:ext uri="{FF2B5EF4-FFF2-40B4-BE49-F238E27FC236}">
                <a16:creationId xmlns:a16="http://schemas.microsoft.com/office/drawing/2014/main" id="{1A990BDB-67E6-4E46-A5C3-6D70E7B2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71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bounded repair</a:t>
            </a:r>
          </a:p>
        </p:txBody>
      </p:sp>
      <p:sp>
        <p:nvSpPr>
          <p:cNvPr id="13" name="ci-guard-2">
            <a:extLst xmlns:a="http://schemas.openxmlformats.org/drawingml/2006/main">
              <a:ext uri="{FF2B5EF4-FFF2-40B4-BE49-F238E27FC236}">
                <a16:creationId xmlns:a16="http://schemas.microsoft.com/office/drawing/2014/main" id="{C88D2697-9F45-40AA-9526-4D45471E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194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изменён 1 файл</a:t>
            </a:r>
          </a:p>
        </p:txBody>
      </p:sp>
      <p:sp>
        <p:nvSpPr>
          <p:cNvPr id="14" name="ci-rule-2">
            <a:extLst xmlns:a="http://schemas.openxmlformats.org/drawingml/2006/main">
              <a:ext uri="{FF2B5EF4-FFF2-40B4-BE49-F238E27FC236}">
                <a16:creationId xmlns:a16="http://schemas.microsoft.com/office/drawing/2014/main" id="{79804AFD-B4EB-4E8A-A464-49B4BCD0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i-stage-3">
            <a:extLst xmlns:a="http://schemas.openxmlformats.org/drawingml/2006/main">
              <a:ext uri="{FF2B5EF4-FFF2-40B4-BE49-F238E27FC236}">
                <a16:creationId xmlns:a16="http://schemas.microsoft.com/office/drawing/2014/main" id="{2781154A-BC23-4F7C-A232-F4C0C7D1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862"/>
                </a:solidFill>
                <a:latin typeface="Arial"/>
                <a:ea typeface="Arial"/>
                <a:cs typeface="Arial"/>
              </a:rPr>
              <a:t>SANDBOX</a:t>
            </a:r>
          </a:p>
        </p:txBody>
      </p:sp>
      <p:sp>
        <p:nvSpPr>
          <p:cNvPr id="16" name="ci-result-3">
            <a:extLst xmlns:a="http://schemas.openxmlformats.org/drawingml/2006/main">
              <a:ext uri="{FF2B5EF4-FFF2-40B4-BE49-F238E27FC236}">
                <a16:creationId xmlns:a16="http://schemas.microsoft.com/office/drawing/2014/main" id="{CF39F478-8097-4F33-883D-58BFAEBA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957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pytest + Ruff</a:t>
            </a:r>
          </a:p>
        </p:txBody>
      </p:sp>
      <p:sp>
        <p:nvSpPr>
          <p:cNvPr id="17" name="ci-guard-3">
            <a:extLst xmlns:a="http://schemas.openxmlformats.org/drawingml/2006/main">
              <a:ext uri="{FF2B5EF4-FFF2-40B4-BE49-F238E27FC236}">
                <a16:creationId xmlns:a16="http://schemas.microsoft.com/office/drawing/2014/main" id="{39D9C848-7885-4A90-A36F-9803D26D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433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network disabled</a:t>
            </a:r>
          </a:p>
        </p:txBody>
      </p:sp>
      <p:sp>
        <p:nvSpPr>
          <p:cNvPr id="18" name="ci-rule-3">
            <a:extLst xmlns:a="http://schemas.openxmlformats.org/drawingml/2006/main">
              <a:ext uri="{FF2B5EF4-FFF2-40B4-BE49-F238E27FC236}">
                <a16:creationId xmlns:a16="http://schemas.microsoft.com/office/drawing/2014/main" id="{9B291B25-A567-44EE-89C0-40393FDE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i-stage-4">
            <a:extLst xmlns:a="http://schemas.openxmlformats.org/drawingml/2006/main">
              <a:ext uri="{FF2B5EF4-FFF2-40B4-BE49-F238E27FC236}">
                <a16:creationId xmlns:a16="http://schemas.microsoft.com/office/drawing/2014/main" id="{BF6AE0E2-4742-4DA0-AC6D-5889131D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862"/>
                </a:solidFill>
                <a:latin typeface="Arial"/>
                <a:ea typeface="Arial"/>
                <a:cs typeface="Arial"/>
              </a:rPr>
              <a:t>CRITIC</a:t>
            </a:r>
          </a:p>
        </p:txBody>
      </p:sp>
      <p:sp>
        <p:nvSpPr>
          <p:cNvPr id="20" name="ci-result-4">
            <a:extLst xmlns:a="http://schemas.openxmlformats.org/drawingml/2006/main">
              <a:ext uri="{FF2B5EF4-FFF2-40B4-BE49-F238E27FC236}">
                <a16:creationId xmlns:a16="http://schemas.microsoft.com/office/drawing/2014/main" id="{BF2DCA3F-FDF2-4CBD-920C-385E4088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196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approved</a:t>
            </a:r>
          </a:p>
        </p:txBody>
      </p:sp>
      <p:sp>
        <p:nvSpPr>
          <p:cNvPr id="21" name="ci-guard-4">
            <a:extLst xmlns:a="http://schemas.openxmlformats.org/drawingml/2006/main">
              <a:ext uri="{FF2B5EF4-FFF2-40B4-BE49-F238E27FC236}">
                <a16:creationId xmlns:a16="http://schemas.microsoft.com/office/drawing/2014/main" id="{0F1A1295-2FF2-4FEE-8FFD-76A5E3FE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672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hash revalidation</a:t>
            </a:r>
          </a:p>
        </p:txBody>
      </p:sp>
      <p:sp>
        <p:nvSpPr>
          <p:cNvPr id="22" name="ci-rule-4">
            <a:extLst xmlns:a="http://schemas.openxmlformats.org/drawingml/2006/main">
              <a:ext uri="{FF2B5EF4-FFF2-40B4-BE49-F238E27FC236}">
                <a16:creationId xmlns:a16="http://schemas.microsoft.com/office/drawing/2014/main" id="{06318C90-B653-4D45-AC23-2E5D4E3A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i-stage-5">
            <a:extLst xmlns:a="http://schemas.openxmlformats.org/drawingml/2006/main">
              <a:ext uri="{FF2B5EF4-FFF2-40B4-BE49-F238E27FC236}">
                <a16:creationId xmlns:a16="http://schemas.microsoft.com/office/drawing/2014/main" id="{7E0F02FD-33AB-49FA-A425-807834D7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47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4735"/>
                </a:solidFill>
                <a:latin typeface="Arial"/>
                <a:ea typeface="Arial"/>
                <a:cs typeface="Arial"/>
              </a:rPr>
              <a:t>HITL</a:t>
            </a:r>
          </a:p>
        </p:txBody>
      </p:sp>
      <p:sp>
        <p:nvSpPr>
          <p:cNvPr id="24" name="ci-result-5">
            <a:extLst xmlns:a="http://schemas.openxmlformats.org/drawingml/2006/main">
              <a:ext uri="{FF2B5EF4-FFF2-40B4-BE49-F238E27FC236}">
                <a16:creationId xmlns:a16="http://schemas.microsoft.com/office/drawing/2014/main" id="{4BE2AFC5-B1F4-4AEF-8C34-FF925FE8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Draft MR !1</a:t>
            </a:r>
          </a:p>
        </p:txBody>
      </p:sp>
      <p:sp>
        <p:nvSpPr>
          <p:cNvPr id="25" name="ci-guard-5">
            <a:extLst xmlns:a="http://schemas.openxmlformats.org/drawingml/2006/main">
              <a:ext uri="{FF2B5EF4-FFF2-40B4-BE49-F238E27FC236}">
                <a16:creationId xmlns:a16="http://schemas.microsoft.com/office/drawing/2014/main" id="{09724759-735E-4FB9-938D-7F8D4F5D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91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pipeline succeeded</a:t>
            </a:r>
          </a:p>
        </p:txBody>
      </p:sp>
    </p:spTree>
    <p:extLst>
      <p:ext uri="{BB962C8B-B14F-4D97-AF65-F5344CB8AC3E}">
        <p14:creationId xmlns:p14="http://schemas.microsoft.com/office/powerpoint/2010/main" val="924867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6">
            <a:extLst xmlns:a="http://schemas.openxmlformats.org/drawingml/2006/main">
              <a:ext uri="{FF2B5EF4-FFF2-40B4-BE49-F238E27FC236}">
                <a16:creationId xmlns:a16="http://schemas.microsoft.com/office/drawing/2014/main" id="{EF1C7B44-8649-40A6-B763-F2CF931D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947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Runtime-demo доказал: доступность процесса не равна здоровью приложения.</a:t>
            </a:r>
          </a:p>
        </p:txBody>
      </p:sp>
      <p:sp>
        <p:nvSpPr>
          <p:cNvPr id="2" name="number-6">
            <a:extLst xmlns:a="http://schemas.openxmlformats.org/drawingml/2006/main">
              <a:ext uri="{FF2B5EF4-FFF2-40B4-BE49-F238E27FC236}">
                <a16:creationId xmlns:a16="http://schemas.microsoft.com/office/drawing/2014/main" id="{86F98A9C-C2A8-426E-8953-F6A862C8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runtime-explainer">
            <a:extLst xmlns:a="http://schemas.openxmlformats.org/drawingml/2006/main">
              <a:ext uri="{FF2B5EF4-FFF2-40B4-BE49-F238E27FC236}">
                <a16:creationId xmlns:a16="http://schemas.microsoft.com/office/drawing/2014/main" id="{A65451F7-01A1-453B-9110-C05CD438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Prometheus rule → Alertmanager webhook → durable graph → server-owned PromQL evidence</a:t>
            </a:r>
          </a:p>
        </p:txBody>
      </p:sp>
      <p:sp>
        <p:nvSpPr>
          <p:cNvPr id="4" name="runtime-panel-0">
            <a:extLst xmlns:a="http://schemas.openxmlformats.org/drawingml/2006/main">
              <a:ext uri="{FF2B5EF4-FFF2-40B4-BE49-F238E27FC236}">
                <a16:creationId xmlns:a16="http://schemas.microsoft.com/office/drawing/2014/main" id="{20C073A5-EF18-455D-89A8-6CC2CF0D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3429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ntime-stat-0">
            <a:extLst xmlns:a="http://schemas.openxmlformats.org/drawingml/2006/main">
              <a:ext uri="{FF2B5EF4-FFF2-40B4-BE49-F238E27FC236}">
                <a16:creationId xmlns:a16="http://schemas.microsoft.com/office/drawing/2014/main" id="{DEC506A0-E890-4345-8365-291438F9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895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up = 1</a:t>
            </a:r>
          </a:p>
        </p:txBody>
      </p:sp>
      <p:sp>
        <p:nvSpPr>
          <p:cNvPr id="6" name="runtime-body-0">
            <a:extLst xmlns:a="http://schemas.openxmlformats.org/drawingml/2006/main">
              <a:ext uri="{FF2B5EF4-FFF2-40B4-BE49-F238E27FC236}">
                <a16:creationId xmlns:a16="http://schemas.microsoft.com/office/drawing/2014/main" id="{0434A56D-AC97-4E7F-A09E-B915A293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target доступен</a:t>
            </a:r>
          </a:p>
        </p:txBody>
      </p:sp>
      <p:sp>
        <p:nvSpPr>
          <p:cNvPr id="7" name="runtime-panel-1">
            <a:extLst xmlns:a="http://schemas.openxmlformats.org/drawingml/2006/main">
              <a:ext uri="{FF2B5EF4-FFF2-40B4-BE49-F238E27FC236}">
                <a16:creationId xmlns:a16="http://schemas.microsoft.com/office/drawing/2014/main" id="{DF8134CC-3F02-4440-B534-EE9AEE10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76500"/>
            <a:ext cx="3429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untime-stat-1">
            <a:extLst xmlns:a="http://schemas.openxmlformats.org/drawingml/2006/main">
              <a:ext uri="{FF2B5EF4-FFF2-40B4-BE49-F238E27FC236}">
                <a16:creationId xmlns:a16="http://schemas.microsoft.com/office/drawing/2014/main" id="{66A075ED-CC92-40C4-A7B5-E4A1FF47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3700"/>
            <a:ext cx="2895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C9473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C94735"/>
                </a:solidFill>
                <a:latin typeface="Arial"/>
                <a:ea typeface="Arial"/>
                <a:cs typeface="Arial"/>
              </a:rPr>
              <a:t>0.8</a:t>
            </a:r>
          </a:p>
        </p:txBody>
      </p:sp>
      <p:sp>
        <p:nvSpPr>
          <p:cNvPr id="9" name="runtime-body-1">
            <a:extLst xmlns:a="http://schemas.openxmlformats.org/drawingml/2006/main">
              <a:ext uri="{FF2B5EF4-FFF2-40B4-BE49-F238E27FC236}">
                <a16:creationId xmlns:a16="http://schemas.microsoft.com/office/drawing/2014/main" id="{52E6477E-5E5F-4647-816F-22C8622B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719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error ratio</a:t>
            </a:r>
          </a:p>
        </p:txBody>
      </p:sp>
      <p:sp>
        <p:nvSpPr>
          <p:cNvPr id="10" name="runtime-panel-2">
            <a:extLst xmlns:a="http://schemas.openxmlformats.org/drawingml/2006/main">
              <a:ext uri="{FF2B5EF4-FFF2-40B4-BE49-F238E27FC236}">
                <a16:creationId xmlns:a16="http://schemas.microsoft.com/office/drawing/2014/main" id="{C21D83B8-3D79-49C9-B491-C312D1F3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3429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untime-stat-2">
            <a:extLst xmlns:a="http://schemas.openxmlformats.org/drawingml/2006/main">
              <a:ext uri="{FF2B5EF4-FFF2-40B4-BE49-F238E27FC236}">
                <a16:creationId xmlns:a16="http://schemas.microsoft.com/office/drawing/2014/main" id="{C57306D0-C19B-4C35-9697-7B03E15C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33700"/>
            <a:ext cx="2895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2" name="runtime-body-2">
            <a:extLst xmlns:a="http://schemas.openxmlformats.org/drawingml/2006/main">
              <a:ext uri="{FF2B5EF4-FFF2-40B4-BE49-F238E27FC236}">
                <a16:creationId xmlns:a16="http://schemas.microsoft.com/office/drawing/2014/main" id="{DD2D3CFF-C214-4840-9CBF-DF4318BF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719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tool calls — hard limit</a:t>
            </a:r>
          </a:p>
        </p:txBody>
      </p:sp>
      <p:sp>
        <p:nvSpPr>
          <p:cNvPr id="13" name="runtime-foot">
            <a:extLst xmlns:a="http://schemas.openxmlformats.org/drawingml/2006/main">
              <a:ext uri="{FF2B5EF4-FFF2-40B4-BE49-F238E27FC236}">
                <a16:creationId xmlns:a16="http://schemas.microsoft.com/office/drawing/2014/main" id="{02617FF0-F0BC-485E-9566-43A68812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00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3 итерации · 30 evidence items · безопасная эскалация · ground-truth score 1.0</a:t>
            </a:r>
          </a:p>
        </p:txBody>
      </p:sp>
    </p:spTree>
    <p:extLst>
      <p:ext uri="{BB962C8B-B14F-4D97-AF65-F5344CB8AC3E}">
        <p14:creationId xmlns:p14="http://schemas.microsoft.com/office/powerpoint/2010/main" val="1682862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7">
            <a:extLst xmlns:a="http://schemas.openxmlformats.org/drawingml/2006/main">
              <a:ext uri="{FF2B5EF4-FFF2-40B4-BE49-F238E27FC236}">
                <a16:creationId xmlns:a16="http://schemas.microsoft.com/office/drawing/2014/main" id="{B07D792F-8249-47B6-92E8-5CD456AC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91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LLM рассуждает внутри границ, которые сама изменить не может.</a:t>
            </a:r>
          </a:p>
        </p:txBody>
      </p:sp>
      <p:sp>
        <p:nvSpPr>
          <p:cNvPr id="2" name="number-7">
            <a:extLst xmlns:a="http://schemas.openxmlformats.org/drawingml/2006/main">
              <a:ext uri="{FF2B5EF4-FFF2-40B4-BE49-F238E27FC236}">
                <a16:creationId xmlns:a16="http://schemas.microsoft.com/office/drawing/2014/main" id="{FA2216EE-F0AF-4EB4-9436-31C6BEA8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eyebrow-72-176">
            <a:extLst xmlns:a="http://schemas.openxmlformats.org/drawingml/2006/main">
              <a:ext uri="{FF2B5EF4-FFF2-40B4-BE49-F238E27FC236}">
                <a16:creationId xmlns:a16="http://schemas.microsoft.com/office/drawing/2014/main" id="{8DFCA8D0-3CC0-46D8-95EA-570C129B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47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4735"/>
                </a:solidFill>
                <a:latin typeface="Arial"/>
                <a:ea typeface="Arial"/>
                <a:cs typeface="Arial"/>
              </a:rPr>
              <a:t>LLM МОЖЕТ</a:t>
            </a:r>
          </a:p>
        </p:txBody>
      </p:sp>
      <p:sp>
        <p:nvSpPr>
          <p:cNvPr id="4" name="eyebrow-676-176">
            <a:extLst xmlns:a="http://schemas.openxmlformats.org/drawingml/2006/main">
              <a:ext uri="{FF2B5EF4-FFF2-40B4-BE49-F238E27FC236}">
                <a16:creationId xmlns:a16="http://schemas.microsoft.com/office/drawing/2014/main" id="{6D00BB81-2D6A-4F5E-BF69-9EB5CB14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47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4735"/>
                </a:solidFill>
                <a:latin typeface="Arial"/>
                <a:ea typeface="Arial"/>
                <a:cs typeface="Arial"/>
              </a:rPr>
              <a:t>LLM НЕ МОЖЕТ</a:t>
            </a:r>
          </a:p>
        </p:txBody>
      </p:sp>
      <p:sp>
        <p:nvSpPr>
          <p:cNvPr id="5" name="can-list-dot-0">
            <a:extLst xmlns:a="http://schemas.openxmlformats.org/drawingml/2006/main">
              <a:ext uri="{FF2B5EF4-FFF2-40B4-BE49-F238E27FC236}">
                <a16:creationId xmlns:a16="http://schemas.microsoft.com/office/drawing/2014/main" id="{D1538B81-B902-457E-8718-AAC4FCDB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35"/>
          </a:solidFill>
          <a:ln xmlns:a="http://schemas.openxmlformats.org/drawingml/2006/main" w="14288">
            <a:solidFill>
              <a:srgbClr val="C94735"/>
            </a:solidFill>
            <a:prstDash val="solid"/>
          </a:ln>
        </p:spPr>
      </p:sp>
      <p:sp>
        <p:nvSpPr>
          <p:cNvPr id="6" name="can-list-0">
            <a:extLst xmlns:a="http://schemas.openxmlformats.org/drawingml/2006/main">
              <a:ext uri="{FF2B5EF4-FFF2-40B4-BE49-F238E27FC236}">
                <a16:creationId xmlns:a16="http://schemas.microsoft.com/office/drawing/2014/main" id="{A75BC09C-DB3D-4A94-90D3-5F0790E5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715"/>
                </a:solidFill>
                <a:latin typeface="Arial"/>
                <a:ea typeface="Arial"/>
                <a:cs typeface="Arial"/>
              </a:rPr>
              <a:t>Сформировать проверяемые гипотезы</a:t>
            </a:r>
          </a:p>
        </p:txBody>
      </p:sp>
      <p:sp>
        <p:nvSpPr>
          <p:cNvPr id="7" name="can-list-dot-1">
            <a:extLst xmlns:a="http://schemas.openxmlformats.org/drawingml/2006/main">
              <a:ext uri="{FF2B5EF4-FFF2-40B4-BE49-F238E27FC236}">
                <a16:creationId xmlns:a16="http://schemas.microsoft.com/office/drawing/2014/main" id="{326A99F6-6F56-4451-9C8D-6F4270B5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35"/>
          </a:solidFill>
          <a:ln xmlns:a="http://schemas.openxmlformats.org/drawingml/2006/main" w="14288">
            <a:solidFill>
              <a:srgbClr val="C94735"/>
            </a:solidFill>
            <a:prstDash val="solid"/>
          </a:ln>
        </p:spPr>
      </p:sp>
      <p:sp>
        <p:nvSpPr>
          <p:cNvPr id="8" name="can-list-1">
            <a:extLst xmlns:a="http://schemas.openxmlformats.org/drawingml/2006/main">
              <a:ext uri="{FF2B5EF4-FFF2-40B4-BE49-F238E27FC236}">
                <a16:creationId xmlns:a16="http://schemas.microsoft.com/office/drawing/2014/main" id="{7745445E-479A-442A-A93E-A54F8A78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715"/>
                </a:solidFill>
                <a:latin typeface="Arial"/>
                <a:ea typeface="Arial"/>
                <a:cs typeface="Arial"/>
              </a:rPr>
              <a:t>Запросить дополнительное evidence</a:t>
            </a:r>
          </a:p>
        </p:txBody>
      </p:sp>
      <p:sp>
        <p:nvSpPr>
          <p:cNvPr id="9" name="can-list-dot-2">
            <a:extLst xmlns:a="http://schemas.openxmlformats.org/drawingml/2006/main">
              <a:ext uri="{FF2B5EF4-FFF2-40B4-BE49-F238E27FC236}">
                <a16:creationId xmlns:a16="http://schemas.microsoft.com/office/drawing/2014/main" id="{14C3F824-851E-4ED4-B958-D95C34B9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35"/>
          </a:solidFill>
          <a:ln xmlns:a="http://schemas.openxmlformats.org/drawingml/2006/main" w="14288">
            <a:solidFill>
              <a:srgbClr val="C94735"/>
            </a:solidFill>
            <a:prstDash val="solid"/>
          </a:ln>
        </p:spPr>
      </p:sp>
      <p:sp>
        <p:nvSpPr>
          <p:cNvPr id="10" name="can-list-2">
            <a:extLst xmlns:a="http://schemas.openxmlformats.org/drawingml/2006/main">
              <a:ext uri="{FF2B5EF4-FFF2-40B4-BE49-F238E27FC236}">
                <a16:creationId xmlns:a16="http://schemas.microsoft.com/office/drawing/2014/main" id="{8C039ED0-3B84-44B5-8F46-478A1E37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715"/>
                </a:solidFill>
                <a:latin typeface="Arial"/>
                <a:ea typeface="Arial"/>
                <a:cs typeface="Arial"/>
              </a:rPr>
              <a:t>Предложить минимальный patch</a:t>
            </a:r>
          </a:p>
        </p:txBody>
      </p:sp>
      <p:sp>
        <p:nvSpPr>
          <p:cNvPr id="11" name="can-list-dot-3">
            <a:extLst xmlns:a="http://schemas.openxmlformats.org/drawingml/2006/main">
              <a:ext uri="{FF2B5EF4-FFF2-40B4-BE49-F238E27FC236}">
                <a16:creationId xmlns:a16="http://schemas.microsoft.com/office/drawing/2014/main" id="{1B9F5A25-C8C0-421A-A728-8FC5663E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35"/>
          </a:solidFill>
          <a:ln xmlns:a="http://schemas.openxmlformats.org/drawingml/2006/main" w="14288">
            <a:solidFill>
              <a:srgbClr val="C94735"/>
            </a:solidFill>
            <a:prstDash val="solid"/>
          </a:ln>
        </p:spPr>
      </p:sp>
      <p:sp>
        <p:nvSpPr>
          <p:cNvPr id="12" name="can-list-3">
            <a:extLst xmlns:a="http://schemas.openxmlformats.org/drawingml/2006/main">
              <a:ext uri="{FF2B5EF4-FFF2-40B4-BE49-F238E27FC236}">
                <a16:creationId xmlns:a16="http://schemas.microsoft.com/office/drawing/2014/main" id="{8C7B7A82-F50B-4341-A0E5-3E22D23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715"/>
                </a:solidFill>
                <a:latin typeface="Arial"/>
                <a:ea typeface="Arial"/>
                <a:cs typeface="Arial"/>
              </a:rPr>
              <a:t>Объяснить риск и ожидаемый эффект</a:t>
            </a:r>
          </a:p>
        </p:txBody>
      </p:sp>
      <p:sp>
        <p:nvSpPr>
          <p:cNvPr id="13" name="cannot-list-dot-0">
            <a:extLst xmlns:a="http://schemas.openxmlformats.org/drawingml/2006/main">
              <a:ext uri="{FF2B5EF4-FFF2-40B4-BE49-F238E27FC236}">
                <a16:creationId xmlns:a16="http://schemas.microsoft.com/office/drawing/2014/main" id="{512AEB0B-E13F-4C9C-B8F3-43FE46CE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7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35"/>
          </a:solidFill>
          <a:ln xmlns:a="http://schemas.openxmlformats.org/drawingml/2006/main" w="14288">
            <a:solidFill>
              <a:srgbClr val="C94735"/>
            </a:solidFill>
            <a:prstDash val="solid"/>
          </a:ln>
        </p:spPr>
      </p:sp>
      <p:sp>
        <p:nvSpPr>
          <p:cNvPr id="14" name="cannot-list-0">
            <a:extLst xmlns:a="http://schemas.openxmlformats.org/drawingml/2006/main">
              <a:ext uri="{FF2B5EF4-FFF2-40B4-BE49-F238E27FC236}">
                <a16:creationId xmlns:a16="http://schemas.microsoft.com/office/drawing/2014/main" id="{3A017489-2C59-41FD-AD6F-363D691A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098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715"/>
                </a:solidFill>
                <a:latin typeface="Arial"/>
                <a:ea typeface="Arial"/>
                <a:cs typeface="Arial"/>
              </a:rPr>
              <a:t>Добавить произвольную shell-команду</a:t>
            </a:r>
          </a:p>
        </p:txBody>
      </p:sp>
      <p:sp>
        <p:nvSpPr>
          <p:cNvPr id="15" name="cannot-list-dot-1">
            <a:extLst xmlns:a="http://schemas.openxmlformats.org/drawingml/2006/main">
              <a:ext uri="{FF2B5EF4-FFF2-40B4-BE49-F238E27FC236}">
                <a16:creationId xmlns:a16="http://schemas.microsoft.com/office/drawing/2014/main" id="{A9190FDD-1E69-4202-AD63-BA662D8F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24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35"/>
          </a:solidFill>
          <a:ln xmlns:a="http://schemas.openxmlformats.org/drawingml/2006/main" w="14288">
            <a:solidFill>
              <a:srgbClr val="C94735"/>
            </a:solidFill>
            <a:prstDash val="solid"/>
          </a:ln>
        </p:spPr>
      </p:sp>
      <p:sp>
        <p:nvSpPr>
          <p:cNvPr id="16" name="cannot-list-1">
            <a:extLst xmlns:a="http://schemas.openxmlformats.org/drawingml/2006/main">
              <a:ext uri="{FF2B5EF4-FFF2-40B4-BE49-F238E27FC236}">
                <a16:creationId xmlns:a16="http://schemas.microsoft.com/office/drawing/2014/main" id="{03493B91-6D3B-43A8-8015-A4813739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715"/>
                </a:solidFill>
                <a:latin typeface="Arial"/>
                <a:ea typeface="Arial"/>
                <a:cs typeface="Arial"/>
              </a:rPr>
              <a:t>Изменить tool-call budget или policy</a:t>
            </a:r>
          </a:p>
        </p:txBody>
      </p:sp>
      <p:sp>
        <p:nvSpPr>
          <p:cNvPr id="17" name="cannot-list-dot-2">
            <a:extLst xmlns:a="http://schemas.openxmlformats.org/drawingml/2006/main">
              <a:ext uri="{FF2B5EF4-FFF2-40B4-BE49-F238E27FC236}">
                <a16:creationId xmlns:a16="http://schemas.microsoft.com/office/drawing/2014/main" id="{1B6A8339-33F7-4E8C-9EB3-98805BAB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71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35"/>
          </a:solidFill>
          <a:ln xmlns:a="http://schemas.openxmlformats.org/drawingml/2006/main" w="14288">
            <a:solidFill>
              <a:srgbClr val="C94735"/>
            </a:solidFill>
            <a:prstDash val="solid"/>
          </a:ln>
        </p:spPr>
      </p:sp>
      <p:sp>
        <p:nvSpPr>
          <p:cNvPr id="18" name="cannot-list-2">
            <a:extLst xmlns:a="http://schemas.openxmlformats.org/drawingml/2006/main">
              <a:ext uri="{FF2B5EF4-FFF2-40B4-BE49-F238E27FC236}">
                <a16:creationId xmlns:a16="http://schemas.microsoft.com/office/drawing/2014/main" id="{7BA2CE36-8716-4302-938C-52A0A251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052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715"/>
                </a:solidFill>
                <a:latin typeface="Arial"/>
                <a:ea typeface="Arial"/>
                <a:cs typeface="Arial"/>
              </a:rPr>
              <a:t>Обойти sandbox и hash revalidation</a:t>
            </a:r>
          </a:p>
        </p:txBody>
      </p:sp>
      <p:sp>
        <p:nvSpPr>
          <p:cNvPr id="19" name="cannot-list-dot-3">
            <a:extLst xmlns:a="http://schemas.openxmlformats.org/drawingml/2006/main">
              <a:ext uri="{FF2B5EF4-FFF2-40B4-BE49-F238E27FC236}">
                <a16:creationId xmlns:a16="http://schemas.microsoft.com/office/drawing/2014/main" id="{C9B50058-97D1-4A9E-A0A1-56C20D51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735"/>
          </a:solidFill>
          <a:ln xmlns:a="http://schemas.openxmlformats.org/drawingml/2006/main" w="14288">
            <a:solidFill>
              <a:srgbClr val="C94735"/>
            </a:solidFill>
            <a:prstDash val="solid"/>
          </a:ln>
        </p:spPr>
      </p:sp>
      <p:sp>
        <p:nvSpPr>
          <p:cNvPr id="20" name="cannot-list-3">
            <a:extLst xmlns:a="http://schemas.openxmlformats.org/drawingml/2006/main">
              <a:ext uri="{FF2B5EF4-FFF2-40B4-BE49-F238E27FC236}">
                <a16:creationId xmlns:a16="http://schemas.microsoft.com/office/drawing/2014/main" id="{C25EC483-DA26-4D95-8928-A8375707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529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715"/>
                </a:solidFill>
                <a:latin typeface="Arial"/>
                <a:ea typeface="Arial"/>
                <a:cs typeface="Arial"/>
              </a:rPr>
              <a:t>Опубликовать branch без Human approval</a:t>
            </a:r>
          </a:p>
        </p:txBody>
      </p:sp>
      <p:sp>
        <p:nvSpPr>
          <p:cNvPr id="21" name="security-rule">
            <a:extLst xmlns:a="http://schemas.openxmlformats.org/drawingml/2006/main">
              <a:ext uri="{FF2B5EF4-FFF2-40B4-BE49-F238E27FC236}">
                <a16:creationId xmlns:a16="http://schemas.microsoft.com/office/drawing/2014/main" id="{C7779DF2-14C3-44AE-901A-7519F4FC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573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ecurity-footer">
            <a:extLst xmlns:a="http://schemas.openxmlformats.org/drawingml/2006/main">
              <a:ext uri="{FF2B5EF4-FFF2-40B4-BE49-F238E27FC236}">
                <a16:creationId xmlns:a16="http://schemas.microsoft.com/office/drawing/2014/main" id="{F98AB3B4-E18F-44E8-90C6-EB7B7CBF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947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94735"/>
                </a:solidFill>
                <a:latin typeface="Arial"/>
                <a:ea typeface="Arial"/>
                <a:cs typeface="Arial"/>
              </a:rPr>
              <a:t>Главный security invariant: до approval внешней remediation branch не существует.</a:t>
            </a:r>
          </a:p>
        </p:txBody>
      </p:sp>
    </p:spTree>
    <p:extLst>
      <p:ext uri="{BB962C8B-B14F-4D97-AF65-F5344CB8AC3E}">
        <p14:creationId xmlns:p14="http://schemas.microsoft.com/office/powerpoint/2010/main" val="718617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52-42">
            <a:extLst xmlns:a="http://schemas.openxmlformats.org/drawingml/2006/main">
              <a:ext uri="{FF2B5EF4-FFF2-40B4-BE49-F238E27FC236}">
                <a16:creationId xmlns:a16="http://schemas.microsoft.com/office/drawing/2014/main" id="{2B977251-0893-4657-B20C-E6FFA00D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47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4735"/>
                </a:solidFill>
                <a:latin typeface="Arial"/>
                <a:ea typeface="Arial"/>
                <a:cs typeface="Arial"/>
              </a:rPr>
              <a:t>ИТОГ</a:t>
            </a:r>
          </a:p>
        </p:txBody>
      </p:sp>
      <p:sp>
        <p:nvSpPr>
          <p:cNvPr id="2" name="final-title">
            <a:extLst xmlns:a="http://schemas.openxmlformats.org/drawingml/2006/main">
              <a:ext uri="{FF2B5EF4-FFF2-40B4-BE49-F238E27FC236}">
                <a16:creationId xmlns:a16="http://schemas.microsoft.com/office/drawing/2014/main" id="{92FB7115-688B-4F43-A5E0-9C901EDC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Один core уже работает</a:t>
            </a:r>
          </a:p>
          <a:p xmlns:a="http://schemas.openxmlformats.org/drawingml/2006/main">
            <a:pPr algn="l">
              <a:defRPr sz="405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с двумя классами инцидентов.</a:t>
            </a:r>
          </a:p>
        </p:txBody>
      </p:sp>
      <p:sp>
        <p:nvSpPr>
          <p:cNvPr id="3" name="proof-stat-0">
            <a:extLst xmlns:a="http://schemas.openxmlformats.org/drawingml/2006/main">
              <a:ext uri="{FF2B5EF4-FFF2-40B4-BE49-F238E27FC236}">
                <a16:creationId xmlns:a16="http://schemas.microsoft.com/office/drawing/2014/main" id="{A6348E97-673E-4A82-B0CD-04D1BC92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80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4" name="proof-body-0">
            <a:extLst xmlns:a="http://schemas.openxmlformats.org/drawingml/2006/main">
              <a:ext uri="{FF2B5EF4-FFF2-40B4-BE49-F238E27FC236}">
                <a16:creationId xmlns:a16="http://schemas.microsoft.com/office/drawing/2014/main" id="{752BFFDA-B48E-4120-A6F4-179A1DBC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unit tests passed</a:t>
            </a:r>
          </a:p>
        </p:txBody>
      </p:sp>
      <p:sp>
        <p:nvSpPr>
          <p:cNvPr id="5" name="proof-stat-1">
            <a:extLst xmlns:a="http://schemas.openxmlformats.org/drawingml/2006/main">
              <a:ext uri="{FF2B5EF4-FFF2-40B4-BE49-F238E27FC236}">
                <a16:creationId xmlns:a16="http://schemas.microsoft.com/office/drawing/2014/main" id="{6FBAD1D8-CFEC-46D2-9B17-5383D816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480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5171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5171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proof-body-1">
            <a:extLst xmlns:a="http://schemas.openxmlformats.org/drawingml/2006/main">
              <a:ext uri="{FF2B5EF4-FFF2-40B4-BE49-F238E27FC236}">
                <a16:creationId xmlns:a16="http://schemas.microsoft.com/office/drawing/2014/main" id="{187C2DBF-FAB2-457D-BBCD-63B4F6FE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624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CI + runtime paths</a:t>
            </a:r>
          </a:p>
        </p:txBody>
      </p:sp>
      <p:sp>
        <p:nvSpPr>
          <p:cNvPr id="7" name="proof-stat-2">
            <a:extLst xmlns:a="http://schemas.openxmlformats.org/drawingml/2006/main">
              <a:ext uri="{FF2B5EF4-FFF2-40B4-BE49-F238E27FC236}">
                <a16:creationId xmlns:a16="http://schemas.microsoft.com/office/drawing/2014/main" id="{DA6FB57D-48AC-48AA-8BF2-A99E1C15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480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0725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07257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8" name="proof-body-2">
            <a:extLst xmlns:a="http://schemas.openxmlformats.org/drawingml/2006/main">
              <a:ext uri="{FF2B5EF4-FFF2-40B4-BE49-F238E27FC236}">
                <a16:creationId xmlns:a16="http://schemas.microsoft.com/office/drawing/2014/main" id="{F683F773-FE45-428F-A8BD-F0A93F84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624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8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862"/>
                </a:solidFill>
                <a:latin typeface="Arial"/>
                <a:ea typeface="Arial"/>
                <a:cs typeface="Arial"/>
              </a:rPr>
              <a:t>runtime eval score</a:t>
            </a:r>
          </a:p>
        </p:txBody>
      </p:sp>
      <p:sp>
        <p:nvSpPr>
          <p:cNvPr id="9" name="final-rule">
            <a:extLst xmlns:a="http://schemas.openxmlformats.org/drawingml/2006/main">
              <a:ext uri="{FF2B5EF4-FFF2-40B4-BE49-F238E27FC236}">
                <a16:creationId xmlns:a16="http://schemas.microsoft.com/office/drawing/2014/main" id="{F566D30E-6DE7-4E8B-8ED7-47196C6F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inal-close">
            <a:extLst xmlns:a="http://schemas.openxmlformats.org/drawingml/2006/main">
              <a:ext uri="{FF2B5EF4-FFF2-40B4-BE49-F238E27FC236}">
                <a16:creationId xmlns:a16="http://schemas.microsoft.com/office/drawing/2014/main" id="{02984E05-3216-45B5-9B59-50C7C5DA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435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947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94735"/>
                </a:solidFill>
                <a:latin typeface="Arial"/>
                <a:ea typeface="Arial"/>
                <a:cs typeface="Arial"/>
              </a:rPr>
              <a:t>Следующий adapter добавляет новую среду — не переписывает orchestration.</a:t>
            </a:r>
          </a:p>
        </p:txBody>
      </p:sp>
    </p:spTree>
    <p:extLst>
      <p:ext uri="{BB962C8B-B14F-4D97-AF65-F5344CB8AC3E}">
        <p14:creationId xmlns:p14="http://schemas.microsoft.com/office/powerpoint/2010/main" val="533094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2026-08-13T12:42:11.4330000Z</dcterms:created>
  <dcterms:modified xsi:type="dcterms:W3CDTF">2026-08-13T12:42:11.4330000Z</dcterms:modified>
</coreProperties>
</file>